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none" lIns="152400" tIns="76200">
            <a:spAutoFit/>
          </a:bodyPr>
          <a:lstStyle/>
          <a:p>
            <a:pPr algn="ctr">
              <a:defRPr sz="3200" b="1">
                <a:solidFill>
                  <a:srgbClr val="424242"/>
                </a:solidFill>
                <a:latin typeface="Microsoft YaHei"/>
              </a:defRPr>
            </a:pPr>
            <a:r>
              <a:t>监控运营管理（长城金融）</a:t>
            </a:r>
          </a:p>
          <a:p>
            <a:pPr algn="ctr">
              <a:defRPr sz="1800">
                <a:solidFill>
                  <a:srgbClr val="FF9800"/>
                </a:solidFill>
                <a:latin typeface="Microsoft YaHei"/>
              </a:defRPr>
            </a:pPr>
            <a:r>
              <a:t>快、准、全——1分钟发现、5分钟定位、10分钟处理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4114800" cy="3657600"/>
          </a:xfrm>
          <a:prstGeom prst="rect">
            <a:avLst/>
          </a:prstGeom>
          <a:solidFill>
            <a:srgbClr val="81C784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52400" wrap="square"/>
          <a:lstStyle/>
          <a:p>
            <a:pPr algn="ctr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事前（预防）</a:t>
            </a:r>
          </a:p>
          <a:p>
            <a:pPr>
              <a:spcAft>
                <a:spcPts val="600"/>
              </a:spcAft>
              <a:defRPr sz="1100">
                <a:solidFill>
                  <a:srgbClr val="424242"/>
                </a:solidFill>
                <a:latin typeface="Microsoft YaHei"/>
              </a:defRPr>
            </a:pPr>
            <a:r>
              <a:t>• 监控巡检：每日检查监控服务与告警通道（短信/钉钉/电话）可用性</a:t>
            </a:r>
          </a:p>
          <a:p>
            <a:pPr>
              <a:spcAft>
                <a:spcPts val="600"/>
              </a:spcAft>
              <a:defRPr sz="1100">
                <a:solidFill>
                  <a:srgbClr val="424242"/>
                </a:solidFill>
                <a:latin typeface="Microsoft YaHei"/>
              </a:defRPr>
            </a:pPr>
            <a:r>
              <a:t>• 告警检测：定时核查平台与多通道异常，发现即触发响应</a:t>
            </a:r>
          </a:p>
          <a:p>
            <a:pPr>
              <a:spcAft>
                <a:spcPts val="600"/>
              </a:spcAft>
              <a:defRPr sz="1100">
                <a:solidFill>
                  <a:srgbClr val="424242"/>
                </a:solidFill>
                <a:latin typeface="Microsoft YaHei"/>
              </a:defRPr>
            </a:pPr>
            <a:r>
              <a:t>• 监控配置：新增/调整走流程审批；双人复核，上线前测试验证</a:t>
            </a:r>
          </a:p>
          <a:p>
            <a:pPr>
              <a:spcAft>
                <a:spcPts val="600"/>
              </a:spcAft>
              <a:defRPr sz="1100">
                <a:solidFill>
                  <a:srgbClr val="424242"/>
                </a:solidFill>
                <a:latin typeface="Microsoft YaHei"/>
              </a:defRPr>
            </a:pPr>
            <a:r>
              <a:t>• 配套：变更纳管、自动巡检、资产测绘/CMDB同步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4114800" cy="3657600"/>
          </a:xfrm>
          <a:prstGeom prst="rect">
            <a:avLst/>
          </a:prstGeom>
          <a:solidFill>
            <a:srgbClr val="FFE0B2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52400" wrap="square"/>
          <a:lstStyle/>
          <a:p>
            <a:pPr algn="ctr">
              <a:defRPr sz="1600" b="1">
                <a:solidFill>
                  <a:srgbClr val="FF9800"/>
                </a:solidFill>
                <a:latin typeface="Microsoft YaHei"/>
              </a:defRPr>
            </a:pPr>
            <a:r>
              <a:t>事中（感知-定位-处置）</a:t>
            </a:r>
          </a:p>
          <a:p>
            <a:pPr>
              <a:spcAft>
                <a:spcPts val="600"/>
              </a:spcAft>
              <a:defRPr sz="1100">
                <a:solidFill>
                  <a:srgbClr val="424242"/>
                </a:solidFill>
                <a:latin typeface="Microsoft YaHei"/>
              </a:defRPr>
            </a:pPr>
            <a:r>
              <a:t>• 告警处理：管理员与处理人同步收敛告警，"1分钟内接警"</a:t>
            </a:r>
          </a:p>
          <a:p>
            <a:pPr>
              <a:spcAft>
                <a:spcPts val="600"/>
              </a:spcAft>
              <a:defRPr sz="1100">
                <a:solidFill>
                  <a:srgbClr val="424242"/>
                </a:solidFill>
                <a:latin typeface="Microsoft YaHei"/>
              </a:defRPr>
            </a:pPr>
            <a:r>
              <a:t>• 工单联动：一级告警自动在 ITSM 登记并流转至维护人</a:t>
            </a:r>
          </a:p>
          <a:p>
            <a:pPr>
              <a:spcAft>
                <a:spcPts val="600"/>
              </a:spcAft>
              <a:defRPr sz="1100">
                <a:solidFill>
                  <a:srgbClr val="424242"/>
                </a:solidFill>
                <a:latin typeface="Microsoft YaHei"/>
              </a:defRPr>
            </a:pPr>
            <a:r>
              <a:t>• 分级处置：按影响度与优先级先急后缓，"5分钟定位、10分钟处理"</a:t>
            </a:r>
          </a:p>
          <a:p>
            <a:pPr>
              <a:spcAft>
                <a:spcPts val="600"/>
              </a:spcAft>
              <a:defRPr sz="1100">
                <a:solidFill>
                  <a:srgbClr val="424242"/>
                </a:solidFill>
                <a:latin typeface="Microsoft YaHei"/>
              </a:defRPr>
            </a:pPr>
            <a:r>
              <a:t>• 支撑：指标/日志/链路/事件关联，经验图谱 + AI 辅助诊断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1645920"/>
            <a:ext cx="4114800" cy="3657600"/>
          </a:xfrm>
          <a:prstGeom prst="rect">
            <a:avLst/>
          </a:prstGeom>
          <a:solidFill>
            <a:srgbClr val="81C784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52400" wrap="square"/>
          <a:lstStyle/>
          <a:p>
            <a:pPr algn="ctr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事后（复盘-改进）</a:t>
            </a:r>
          </a:p>
          <a:p>
            <a:pPr>
              <a:spcAft>
                <a:spcPts val="600"/>
              </a:spcAft>
              <a:defRPr sz="1100">
                <a:solidFill>
                  <a:srgbClr val="424242"/>
                </a:solidFill>
                <a:latin typeface="Microsoft YaHei"/>
              </a:defRPr>
            </a:pPr>
            <a:r>
              <a:t>• 事件报告：按分级输出处理报告，沉淀至知识库（ITSM）</a:t>
            </a:r>
          </a:p>
          <a:p>
            <a:pPr>
              <a:spcAft>
                <a:spcPts val="600"/>
              </a:spcAft>
              <a:defRPr sz="1100">
                <a:solidFill>
                  <a:srgbClr val="424242"/>
                </a:solidFill>
                <a:latin typeface="Microsoft YaHei"/>
              </a:defRPr>
            </a:pPr>
            <a:r>
              <a:t>• 月报复盘：监控点健康、事件数量、优化改进与达标率趋势</a:t>
            </a:r>
          </a:p>
          <a:p>
            <a:pPr>
              <a:spcAft>
                <a:spcPts val="600"/>
              </a:spcAft>
              <a:defRPr sz="1100">
                <a:solidFill>
                  <a:srgbClr val="424242"/>
                </a:solidFill>
                <a:latin typeface="Microsoft YaHei"/>
              </a:defRPr>
            </a:pPr>
            <a:r>
              <a:t>• 体系优化：告警降噪、阈值优化、覆盖完善、自动化编排闭环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0" y="1645920"/>
            <a:ext cx="2103120" cy="3657600"/>
          </a:xfrm>
          <a:prstGeom prst="rect">
            <a:avLst/>
          </a:prstGeom>
          <a:noFill/>
        </p:spPr>
        <p:txBody>
          <a:bodyPr wrap="square" lIns="101600" tIns="101600">
            <a:spAutoFit/>
          </a:bodyPr>
          <a:lstStyle/>
          <a:p>
            <a:pPr>
              <a:defRPr sz="1400" b="1">
                <a:solidFill>
                  <a:srgbClr val="424242"/>
                </a:solidFill>
                <a:latin typeface="Microsoft YaHei"/>
              </a:defRPr>
            </a:pPr>
            <a:r>
              <a:t>平台与工具链</a:t>
            </a:r>
          </a:p>
          <a:p>
            <a:pPr>
              <a:spcAft>
                <a:spcPts val="400"/>
              </a:spcAft>
              <a:defRPr sz="900">
                <a:solidFill>
                  <a:srgbClr val="424242"/>
                </a:solidFill>
                <a:latin typeface="Microsoft YaHei"/>
              </a:defRPr>
            </a:pPr>
            <a:r>
              <a:t>• 监控平台（可观测）：指标/日志/链路/APM/合成；AI/规则引擎/降噪</a:t>
            </a:r>
          </a:p>
          <a:p>
            <a:pPr>
              <a:spcAft>
                <a:spcPts val="400"/>
              </a:spcAft>
              <a:defRPr sz="900">
                <a:solidFill>
                  <a:srgbClr val="424242"/>
                </a:solidFill>
                <a:latin typeface="Microsoft YaHei"/>
              </a:defRPr>
            </a:pPr>
            <a:r>
              <a:t>• ITSM：自动开单、审批/流转、SLA 考核、知识库</a:t>
            </a:r>
          </a:p>
          <a:p>
            <a:pPr>
              <a:spcAft>
                <a:spcPts val="400"/>
              </a:spcAft>
              <a:defRPr sz="900">
                <a:solidFill>
                  <a:srgbClr val="424242"/>
                </a:solidFill>
                <a:latin typeface="Microsoft YaHei"/>
              </a:defRPr>
            </a:pPr>
            <a:r>
              <a:t>• 通知通道：钉钉/短信/电话/邮箱，多通道冗余</a:t>
            </a:r>
          </a:p>
          <a:p>
            <a:pPr>
              <a:spcAft>
                <a:spcPts val="400"/>
              </a:spcAft>
              <a:defRPr sz="900">
                <a:solidFill>
                  <a:srgbClr val="424242"/>
                </a:solidFill>
                <a:latin typeface="Microsoft YaHei"/>
              </a:defRPr>
            </a:pPr>
            <a:r>
              <a:t>• 自动化：Runbook、一键扩容/限流/隔离/切换/降级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3716000" cy="2286000"/>
          </a:xfrm>
          <a:prstGeom prst="rect">
            <a:avLst/>
          </a:prstGeom>
          <a:noFill/>
        </p:spPr>
        <p:txBody>
          <a:bodyPr wrap="none" lIns="152400" tIns="101600">
            <a:spAutoFit/>
          </a:bodyPr>
          <a:lstStyle/>
          <a:p>
            <a:pPr>
              <a:defRPr sz="1600" b="1">
                <a:solidFill>
                  <a:srgbClr val="424242"/>
                </a:solidFill>
                <a:latin typeface="Microsoft YaHei"/>
              </a:defRPr>
            </a:pPr>
            <a:r>
              <a:t>治理与KPI</a:t>
            </a:r>
          </a:p>
          <a:p>
            <a:pPr>
              <a:defRPr sz="1200" b="1">
                <a:solidFill>
                  <a:srgbClr val="424242"/>
                </a:solidFill>
                <a:latin typeface="Microsoft YaHei"/>
              </a:defRPr>
            </a:pPr>
            <a:r>
              <a:t>考核与责任：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Microsoft YaHei"/>
              </a:defRPr>
            </a:pPr>
            <a:r>
              <a:t>• 监控告警未处理：未第一时间响应或未按分级处理记不合格（处理人）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Microsoft YaHei"/>
              </a:defRPr>
            </a:pPr>
            <a:r>
              <a:t>• 监控有效性不达标：通道/系统失效致通知失败，负责人与维护人各承担 50%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Microsoft YaHei"/>
              </a:defRPr>
            </a:pPr>
            <a:r>
              <a:t>• 监控缺失：新系统/变更后未及时部署监控致故障未发现（负责人不合格）</a:t>
            </a:r>
          </a:p>
          <a:p>
            <a:pPr>
              <a:spcAft>
                <a:spcPts val="300"/>
              </a:spcAft>
              <a:defRPr sz="1000">
                <a:solidFill>
                  <a:srgbClr val="424242"/>
                </a:solidFill>
                <a:latin typeface="Microsoft YaHei"/>
              </a:defRPr>
            </a:pPr>
            <a:r>
              <a:t>• 体系优化加分：落地优化项提升成熟度（处理人评优）</a:t>
            </a:r>
          </a:p>
          <a:p>
            <a:pPr>
              <a:defRPr sz="1200" b="1">
                <a:solidFill>
                  <a:srgbClr val="424242"/>
                </a:solidFill>
                <a:latin typeface="Microsoft YaHei"/>
              </a:defRPr>
            </a:pPr>
            <a:r>
              <a:t>关键指标（数字卡片形式）：</a:t>
            </a:r>
          </a:p>
          <a:p>
            <a:pPr>
              <a:spcAft>
                <a:spcPts val="300"/>
              </a:spcAft>
              <a:defRPr sz="1000">
                <a:solidFill>
                  <a:srgbClr val="FF9800"/>
                </a:solidFill>
                <a:latin typeface="Microsoft YaHei"/>
              </a:defRPr>
            </a:pPr>
            <a:r>
              <a:t>• MTTD ≤ 1 分钟，MTTI ≤ 5 分钟，MTTR ≤ 10 分钟</a:t>
            </a:r>
          </a:p>
          <a:p>
            <a:pPr>
              <a:spcAft>
                <a:spcPts val="300"/>
              </a:spcAft>
              <a:defRPr sz="1000">
                <a:solidFill>
                  <a:srgbClr val="FF9800"/>
                </a:solidFill>
                <a:latin typeface="Microsoft YaHei"/>
              </a:defRPr>
            </a:pPr>
            <a:r>
              <a:t>• 告警准确率 ≥ 95%，误报率 ≤ 5%</a:t>
            </a:r>
          </a:p>
          <a:p>
            <a:pPr>
              <a:spcAft>
                <a:spcPts val="300"/>
              </a:spcAft>
              <a:defRPr sz="1000">
                <a:solidFill>
                  <a:srgbClr val="FF9800"/>
                </a:solidFill>
                <a:latin typeface="Microsoft YaHei"/>
              </a:defRPr>
            </a:pPr>
            <a:r>
              <a:t>• 覆盖率 ≥ 95%（关键业务/核心链路/关键资产）</a:t>
            </a:r>
          </a:p>
          <a:p>
            <a:pPr>
              <a:spcAft>
                <a:spcPts val="300"/>
              </a:spcAft>
              <a:defRPr sz="1000">
                <a:solidFill>
                  <a:srgbClr val="FF9800"/>
                </a:solidFill>
                <a:latin typeface="Microsoft YaHei"/>
              </a:defRPr>
            </a:pPr>
            <a:r>
              <a:t>• 自动化处置占比↑，月度复盘完成率 =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08080"/>
                </a:solidFill>
                <a:latin typeface="Microsoft YaHei"/>
              </a:defRPr>
            </a:pPr>
            <a:r>
              <a:t>注：中央英雄图像位置预留（监控运营 事前-事中-事后 1-5-10 节奏图）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